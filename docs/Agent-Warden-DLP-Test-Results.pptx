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57" r:id="rId4"/>
    <p:sldId id="276" r:id="rId5"/>
    <p:sldId id="258" r:id="rId6"/>
    <p:sldId id="279" r:id="rId7"/>
    <p:sldId id="259" r:id="rId8"/>
    <p:sldId id="260" r:id="rId9"/>
    <p:sldId id="267" r:id="rId10"/>
    <p:sldId id="270" r:id="rId11"/>
    <p:sldId id="271" r:id="rId12"/>
    <p:sldId id="272" r:id="rId13"/>
    <p:sldId id="273" r:id="rId14"/>
    <p:sldId id="274" r:id="rId15"/>
    <p:sldId id="261" r:id="rId16"/>
    <p:sldId id="262" r:id="rId17"/>
    <p:sldId id="263" r:id="rId18"/>
    <p:sldId id="264" r:id="rId19"/>
    <p:sldId id="265" r:id="rId20"/>
    <p:sldId id="266" r:id="rId21"/>
    <p:sldId id="281" r:id="rId22"/>
    <p:sldId id="284" r:id="rId23"/>
    <p:sldId id="290" r:id="rId24"/>
    <p:sldId id="294" r:id="rId25"/>
    <p:sldId id="295" r:id="rId26"/>
    <p:sldId id="291" r:id="rId27"/>
    <p:sldId id="292" r:id="rId28"/>
    <p:sldId id="285" r:id="rId29"/>
    <p:sldId id="286" r:id="rId30"/>
    <p:sldId id="288" r:id="rId31"/>
    <p:sldId id="287" r:id="rId32"/>
    <p:sldId id="2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/>
    <p:restoredTop sz="94673"/>
  </p:normalViewPr>
  <p:slideViewPr>
    <p:cSldViewPr snapToGrid="0" snapToObjects="1">
      <p:cViewPr varScale="1">
        <p:scale>
          <a:sx n="129" d="100"/>
          <a:sy n="129" d="100"/>
        </p:scale>
        <p:origin x="2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Segoe UI"/>
              </a:defRPr>
            </a:pPr>
            <a:r>
              <a:t>Agent Warden — Purview DLP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Segoe UI"/>
              </a:defRPr>
            </a:pPr>
            <a:r>
              <a:t>End-to-End Test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6060"/>
                </a:solidFill>
                <a:latin typeface="Segoe UI"/>
              </a:defRPr>
            </a:pPr>
            <a:r>
              <a:t>Microsoft Purview DLP × Microsoft Graph processContent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Tenant: dab94ed2 (aprforazure)  •  Date: April 15, 2026  •  5/5 BLOCK 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52D2E-319B-29B5-A09D-225286D8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0D3959-5C31-45E4-28FB-4E6CB4D19953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3E365-007C-B17B-CEFF-5683206580EB}"/>
              </a:ext>
            </a:extLst>
          </p:cNvPr>
          <p:cNvSpPr txBox="1"/>
          <p:nvPr/>
        </p:nvSpPr>
        <p:spPr>
          <a:xfrm>
            <a:off x="457200" y="274320"/>
            <a:ext cx="11304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Segoe UI"/>
              </a:defRPr>
            </a:pPr>
            <a:r>
              <a:rPr dirty="0"/>
              <a:t>Architecture — </a:t>
            </a:r>
            <a:r>
              <a:rPr lang="en-US" dirty="0"/>
              <a:t>Full Picture (DLP, Runtime Security, Observability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843B49-327C-BAFE-B3D6-5CC2E7BD1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66" y="914400"/>
            <a:ext cx="9677400" cy="586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38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rPr dirty="0"/>
              <a:t>Architecture — Cross-Tenant DLP Enforcement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502920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AKS Cluster — aks-agentwarden-dev (Contoso Tenant 9a72f9b7)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11680" cy="411480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OpenClaw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920240"/>
            <a:ext cx="2194560" cy="411480"/>
          </a:xfrm>
          <a:prstGeom prst="roundRect">
            <a:avLst/>
          </a:prstGeom>
          <a:solidFill>
            <a:srgbClr val="5B2D8E"/>
          </a:solidFill>
          <a:ln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DLP Plugin (v0.5.5)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4480560" cy="411480"/>
          </a:xfrm>
          <a:prstGeom prst="round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L1: Prompt Guard  →  L2: Output Scanner  →  L2b: Response Scanner  →  L3: Input Audit</a:t>
            </a:r>
          </a:p>
        </p:txBody>
      </p:sp>
      <p:sp>
        <p:nvSpPr>
          <p:cNvPr id="8" name="Down Arrow 7"/>
          <p:cNvSpPr/>
          <p:nvPr/>
        </p:nvSpPr>
        <p:spPr>
          <a:xfrm>
            <a:off x="2743200" y="3108960"/>
            <a:ext cx="320040" cy="41148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3703320"/>
            <a:ext cx="5029200" cy="502920"/>
          </a:xfrm>
          <a:prstGeom prst="roundRect">
            <a:avLst/>
          </a:prstGeom>
          <a:solidFill>
            <a:srgbClr val="006B6B"/>
          </a:solidFill>
          <a:ln>
            <a:solidFill>
              <a:srgbClr val="00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Purview Tenant — dab94ed2 (aprforazure.onmicrosoft.com)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2286000" cy="411480"/>
          </a:xfrm>
          <a:prstGeom prst="roundRect">
            <a:avLst/>
          </a:prstGeom>
          <a:solidFill>
            <a:srgbClr val="008989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ClientSecretCredential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389120"/>
            <a:ext cx="2011680" cy="411480"/>
          </a:xfrm>
          <a:prstGeom prst="roundRect">
            <a:avLst/>
          </a:prstGeom>
          <a:solidFill>
            <a:srgbClr val="008989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Graph processContent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4572000" cy="411480"/>
          </a:xfrm>
          <a:prstGeom prst="round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App: d94c93dd  •  User: Frank (21bbd518)  •  E5 Licensed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  <a:latin typeface="Segoe UI"/>
              </a:defRPr>
            </a:pPr>
            <a:r>
              <a:t>Cross-Tenant Auth Flow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1. DLP Plugin acquires token from Purview tenant (dab94ed2) using ClientSecretCredential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2. Calls POST /users/{userId}/dataSecurityAndGovernance/processContent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3. Graph evaluates content against DLP policies and returns policyActions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4. Plugin enforces: restrictAccess → block content, empty → allow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  <a:latin typeface="Segoe UI"/>
              </a:defRPr>
            </a:pPr>
            <a:r>
              <a:t>DLP Layers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L1 Prompt Guard — injects DLP policy into LLM system context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L2 Output Scanner — scans tool results via processContent (sync)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L2b Response Scanner — scans LLM response before delivery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L3 Input Audit — scans user input, taints thread on violation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  <a:latin typeface="Segoe UI"/>
              </a:defRPr>
            </a:pPr>
            <a:r>
              <a:t>Key Graph Permissions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Content.Process.All  •  ProtectionScopes.Compute.All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InformationProtectionPolicy.Read.All  •  ContentActivity.Write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29934-FFD9-C6E5-914C-28FA57792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686722-F2CB-1C28-A2EE-540A67AEDBDD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3758A-9655-9C82-1C06-C60167FF4F6F}"/>
              </a:ext>
            </a:extLst>
          </p:cNvPr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rPr lang="en-US" dirty="0"/>
              <a:t>How we test 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94233E-FDDE-1231-2411-821CC6B6F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071859"/>
            <a:ext cx="11585419" cy="539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68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t>DLP Policy Configuration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Policy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Agent Warden - Entra DLP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GUID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1cb19044-daf9-4bc8-af62-db7b032dd43d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EnforcementPlanes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Entra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LocationSource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LocationType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Individual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App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d94c93dd-3c80-4f3d-9671-8b71a7dccafa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94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Segoe UI"/>
              </a:defRPr>
            </a:pPr>
            <a:r>
              <a:t>Rule: Block PII via Entra App  •  Action: RestrictAccess (UploadText: Block)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  <a:latin typeface="Segoe UI"/>
              </a:defRPr>
            </a:pPr>
            <a:r>
              <a:t>28 Sensitive Information Types (SITs)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5B2D8E"/>
                </a:solidFill>
                <a:latin typeface="Segoe UI"/>
              </a:defRPr>
            </a:pPr>
            <a:r>
              <a:t>Credit Card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Credit Card Number (Visa, MC, AmEx, Discover, JCB, UnionPay, Diners)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5B2D8E"/>
                </a:solidFill>
                <a:latin typeface="Segoe UI"/>
              </a:defRPr>
            </a:pPr>
            <a:r>
              <a:t>U.S. PII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U.S. Social Security Number (SSN), U.S. Physical Addresses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5B2D8E"/>
                </a:solidFill>
                <a:latin typeface="Segoe UI"/>
              </a:defRPr>
            </a:pPr>
            <a:r>
              <a:t>Passports (16 countries)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U.S./U.K., Canada, Australia, Japan, France, Germany, Italy, Spain, Netherlands, Belgium, Sweden, Finland, Austria, Ireland, South Korea, Taiwan, Poland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5B2D8E"/>
                </a:solidFill>
                <a:latin typeface="Segoe UI"/>
              </a:defRPr>
            </a:pPr>
            <a:r>
              <a:t>Russia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Passport (Domestic + International), Taxpayer ID (INN), Physical Addresses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5B2D8E"/>
                </a:solidFill>
                <a:latin typeface="Segoe UI"/>
              </a:defRPr>
            </a:pPr>
            <a:r>
              <a:t>Japan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My Number (Personal + Corporate), Resident Registration, Physical Addresses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D13438"/>
                </a:solidFill>
                <a:latin typeface="Segoe UI"/>
              </a:defRPr>
            </a:pPr>
            <a:r>
              <a:t>Root Cause Fix (2026-04-15)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06060"/>
                </a:solidFill>
                <a:latin typeface="Segoe UI"/>
              </a:defRPr>
            </a:pPr>
            <a:r>
              <a:t>The -Locations JSON must include LocationSource:"Entra" and LocationType:"Individual" for custom Entra-registered app IDs. Without these fields, the DLP system cannot resolve the app ID → "Location is invalid".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06060"/>
                </a:solidFill>
                <a:latin typeface="Segoe UI"/>
              </a:defRPr>
            </a:pPr>
            <a:r>
              <a:t>Applications workload requires a separate policy (cannot combine with Exchange/SPO/OD4B).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134AAC-9FDD-C3FD-A0AD-A1A09F280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655" y="0"/>
            <a:ext cx="6166348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926E3-7E63-D7B8-8BF5-9A708F74F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43" y="221381"/>
            <a:ext cx="5135031" cy="4870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D2C1F1-5D5F-CF21-DEE5-BD8302DFEB5C}"/>
              </a:ext>
            </a:extLst>
          </p:cNvPr>
          <p:cNvSpPr txBox="1"/>
          <p:nvPr/>
        </p:nvSpPr>
        <p:spPr>
          <a:xfrm>
            <a:off x="1418271" y="5300813"/>
            <a:ext cx="433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1 managed cloud app = 1 opneclaw instance</a:t>
            </a:r>
          </a:p>
        </p:txBody>
      </p:sp>
    </p:spTree>
    <p:extLst>
      <p:ext uri="{BB962C8B-B14F-4D97-AF65-F5344CB8AC3E}">
        <p14:creationId xmlns:p14="http://schemas.microsoft.com/office/powerpoint/2010/main" val="72580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t>Test Scenarios — Checksum-Valid Fake PII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All fake data passes checksum/format validation (Luhn, check digits). Keywords in correct language per country.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923959"/>
              </p:ext>
            </p:extLst>
          </p:nvPr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PII Data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SITs Triggered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China PII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UnionPay: 6225887632109878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Passport: G12345678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ID: 11010519900307783X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Credit Card Number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UnionPay Luhn-valid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Chinese + English keywords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US PII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Visa: 4242424242424242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SSN: 234-67-8901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Passport: 285194736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Credit Card Number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U.S. SSN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U.S./U.K. Passport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All checksum-valid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English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Japan PII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JCB: 3528234567890126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My Number: 123456789018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Passport: TR1234567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Credit Card Number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Japanese My Number Personal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Japan Passport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JCB Luhn-valid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Japanese keywords (パスポート, マイナンバー)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France PII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MasterCard: 5555555555554444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INSÉE: 185067283009381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Passport: 10AB12345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Credit Card Number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France Passport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MC Luhn-valid, INSÉE key=81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French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Russia PII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MC 2221: 2221001234567896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INN: 770123456703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Passport: 45 1234567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Credit Card Number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Russian Passport (Domestic)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Russian Taxpayer ID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MC 2221 prefix (not Mir 2200)</a:t>
                      </a:r>
                    </a:p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Russian keywords (</a:t>
                      </a:r>
                      <a:r>
                        <a:rPr dirty="0" err="1"/>
                        <a:t>Номер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паспорта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DE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rPr dirty="0"/>
              <a:t>Test Results — 5/5 BLOCK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3366"/>
                </a:solidFill>
                <a:latin typeface="Segoe UI"/>
              </a:defRPr>
            </a:pPr>
            <a:r>
              <a:t>Test Configuration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Tenant:  dab94ed2 (aprforazure)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User:     Frank (21bbd518) — E5 Licensed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App:      d94c93dd (Agent Warden Purview DLP)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API:      Graph v1.0 processContent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Date:     April 15,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432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HTTP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China PII (valid Luhn)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BLOCK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restrictAccess → block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US PII (valid Luhn + SSN)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BLOCK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restrictAccess →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Japan PII (valid Luhn + My Number)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BLOCK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restrictAccess → block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France PII (valid Luhn + INSÉE)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BLOCK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restrictAccess →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Russia PII (valid Luhn + INN)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BLOCK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 err="1"/>
                        <a:t>restrictAccess</a:t>
                      </a:r>
                      <a:r>
                        <a:rPr dirty="0"/>
                        <a:t> → block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0" y="1188720"/>
            <a:ext cx="3200400" cy="1097280"/>
          </a:xfrm>
          <a:prstGeom prst="roundRect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 / 5 PASSED</a:t>
            </a:r>
            <a:br/>
            <a:r>
              <a:t>All Scenarios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09728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  <a:latin typeface="Segoe UI"/>
              </a:defRPr>
            </a:pPr>
            <a:r>
              <a:t>Key Takeaways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07C10"/>
                </a:solidFill>
                <a:latin typeface="Segoe UI"/>
              </a:defRPr>
            </a:pPr>
            <a:r>
              <a:t>✓  Entra DLP policy fully distributed and enforcing on tenant dab94ed2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07C10"/>
                </a:solidFill>
                <a:latin typeface="Segoe UI"/>
              </a:defRPr>
            </a:pPr>
            <a:r>
              <a:t>✓  All 5 country scenarios blocked via restrictAccess action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07C10"/>
                </a:solidFill>
                <a:latin typeface="Segoe UI"/>
              </a:defRPr>
            </a:pPr>
            <a:r>
              <a:t>✓  28 SITs covering credit cards, passports, SSN, addresses, and national IDs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07C10"/>
                </a:solidFill>
                <a:latin typeface="Segoe UI"/>
              </a:defRPr>
            </a:pPr>
            <a:r>
              <a:t>✓  Cross-tenant auth working (Contoso AKS → aprforazure Purview)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3366"/>
                </a:solidFill>
                <a:latin typeface="Segoe UI"/>
              </a:defRPr>
            </a:pPr>
            <a:r>
              <a:t>Next Steps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Switch Helm values to dab94ed2 + Frank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Helm upgrade + pod restart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E2E Telegram test with live DLP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Retire old tenant 2cf24558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FAD464-2090-F4A7-940F-C493C820B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896" y="0"/>
            <a:ext cx="4219177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BCFF50-8580-5CF2-EAA4-6FCAD738A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73" y="0"/>
            <a:ext cx="580792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A34BB6-DE77-4843-70A4-1CA649DEFB3C}"/>
              </a:ext>
            </a:extLst>
          </p:cNvPr>
          <p:cNvSpPr txBox="1"/>
          <p:nvPr/>
        </p:nvSpPr>
        <p:spPr>
          <a:xfrm>
            <a:off x="141631" y="99338"/>
            <a:ext cx="60976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Segoe UI"/>
              </a:defRPr>
            </a:pPr>
            <a:r>
              <a:rPr lang="en-US" dirty="0"/>
              <a:t>Case 1</a:t>
            </a:r>
            <a:br>
              <a:rPr lang="en-US" dirty="0"/>
            </a:br>
            <a:r>
              <a:rPr lang="en-US" dirty="0"/>
              <a:t>China PII</a:t>
            </a:r>
          </a:p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7EFA5-DEDC-9007-F0F6-3B04FE3C45CC}"/>
              </a:ext>
            </a:extLst>
          </p:cNvPr>
          <p:cNvSpPr/>
          <p:nvPr/>
        </p:nvSpPr>
        <p:spPr>
          <a:xfrm>
            <a:off x="4086225" y="3429000"/>
            <a:ext cx="2009775" cy="714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649D8-6BDA-8892-DA77-E86A6C5F54A1}"/>
              </a:ext>
            </a:extLst>
          </p:cNvPr>
          <p:cNvSpPr txBox="1"/>
          <p:nvPr/>
        </p:nvSpPr>
        <p:spPr>
          <a:xfrm>
            <a:off x="4086225" y="4143375"/>
            <a:ext cx="206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TW" dirty="0">
                <a:solidFill>
                  <a:srgbClr val="FF0000"/>
                </a:solidFill>
              </a:rPr>
              <a:t>anaged app name</a:t>
            </a:r>
            <a:br>
              <a:rPr lang="en-TW" dirty="0">
                <a:solidFill>
                  <a:srgbClr val="FF0000"/>
                </a:solidFill>
              </a:rPr>
            </a:br>
            <a:r>
              <a:rPr lang="en-TW" dirty="0">
                <a:solidFill>
                  <a:srgbClr val="FF0000"/>
                </a:solidFill>
              </a:rPr>
              <a:t>(openclaw agent)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18976-80E4-DFB3-1755-C335393DA507}"/>
              </a:ext>
            </a:extLst>
          </p:cNvPr>
          <p:cNvSpPr/>
          <p:nvPr/>
        </p:nvSpPr>
        <p:spPr>
          <a:xfrm>
            <a:off x="2164896" y="2476500"/>
            <a:ext cx="1663652" cy="438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BBF86-D2B1-46B5-45BE-A134EEAF7779}"/>
              </a:ext>
            </a:extLst>
          </p:cNvPr>
          <p:cNvSpPr txBox="1"/>
          <p:nvPr/>
        </p:nvSpPr>
        <p:spPr>
          <a:xfrm>
            <a:off x="3742081" y="2476500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User name</a:t>
            </a:r>
            <a:endParaRPr lang="en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93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C437A-5179-0A59-AE8A-4AA4ECAC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5491D-A299-5B15-219B-0DE149085794}"/>
              </a:ext>
            </a:extLst>
          </p:cNvPr>
          <p:cNvSpPr txBox="1"/>
          <p:nvPr/>
        </p:nvSpPr>
        <p:spPr>
          <a:xfrm>
            <a:off x="141631" y="99338"/>
            <a:ext cx="60976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Segoe UI"/>
              </a:defRPr>
            </a:pPr>
            <a:r>
              <a:rPr lang="en-US" dirty="0"/>
              <a:t>Case 2</a:t>
            </a:r>
            <a:br>
              <a:rPr lang="en-US" dirty="0"/>
            </a:br>
            <a:r>
              <a:rPr lang="en-US" dirty="0"/>
              <a:t>US PII</a:t>
            </a:r>
          </a:p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C46007-B806-23B7-7CEC-D50C682EA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519" y="0"/>
            <a:ext cx="422563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5FC792-2870-7BCB-64CB-A558D196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825" y="0"/>
            <a:ext cx="46405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08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09DC-E5A6-05B4-81D6-25FBA2F2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3C83AC-A9B3-F224-7F16-EAAA39C5DDD1}"/>
              </a:ext>
            </a:extLst>
          </p:cNvPr>
          <p:cNvSpPr txBox="1"/>
          <p:nvPr/>
        </p:nvSpPr>
        <p:spPr>
          <a:xfrm>
            <a:off x="141631" y="99338"/>
            <a:ext cx="60976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Segoe UI"/>
              </a:defRPr>
            </a:pPr>
            <a:r>
              <a:rPr lang="en-US" dirty="0"/>
              <a:t>Case 3</a:t>
            </a:r>
            <a:br>
              <a:rPr lang="en-US" dirty="0"/>
            </a:br>
            <a:r>
              <a:rPr lang="en-US" dirty="0"/>
              <a:t>Japan PII</a:t>
            </a:r>
          </a:p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9BDBFE-A4D7-FF4E-2725-2D6968407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681" y="0"/>
            <a:ext cx="434953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D5D37D-2181-BF5A-4179-97BE20953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942" y="449302"/>
            <a:ext cx="5969058" cy="617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87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61C8-CDC1-F534-E32C-464B099C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59E250-9D1C-BF7C-9F78-50594A87601A}"/>
              </a:ext>
            </a:extLst>
          </p:cNvPr>
          <p:cNvSpPr txBox="1"/>
          <p:nvPr/>
        </p:nvSpPr>
        <p:spPr>
          <a:xfrm>
            <a:off x="141631" y="99338"/>
            <a:ext cx="60976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Segoe UI"/>
              </a:defRPr>
            </a:pPr>
            <a:r>
              <a:rPr lang="en-US" dirty="0"/>
              <a:t>Case 4</a:t>
            </a:r>
            <a:br>
              <a:rPr lang="en-US" dirty="0"/>
            </a:br>
            <a:r>
              <a:rPr lang="en-US" dirty="0"/>
              <a:t>France PII</a:t>
            </a:r>
          </a:p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4D56D1-2D00-D563-B672-1C9BBACF2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15" y="0"/>
            <a:ext cx="429892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2831A4-FBAC-308A-525C-0C0B5A9A4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184" y="357003"/>
            <a:ext cx="5310503" cy="460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29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6DFFC-0C79-7ED2-2C54-CE140874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5FA7BC-68DB-3F10-52FA-F349133E71CD}"/>
              </a:ext>
            </a:extLst>
          </p:cNvPr>
          <p:cNvSpPr txBox="1"/>
          <p:nvPr/>
        </p:nvSpPr>
        <p:spPr>
          <a:xfrm>
            <a:off x="141631" y="99338"/>
            <a:ext cx="60976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Segoe UI"/>
              </a:defRPr>
            </a:pPr>
            <a:r>
              <a:rPr lang="en-US" dirty="0"/>
              <a:t>Case 5</a:t>
            </a:r>
            <a:br>
              <a:rPr lang="en-US" dirty="0"/>
            </a:br>
            <a:r>
              <a:rPr lang="en-US" dirty="0"/>
              <a:t>Russia PII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A404F-3D9E-6F0F-06FA-FAB87313D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29" y="-99338"/>
            <a:ext cx="428240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716C76-250D-01CB-35C8-EBF4B5ACA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424" y="664144"/>
            <a:ext cx="5737014" cy="370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29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1A2BF-39C0-92C4-CB8A-490872CB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Test Detail</a:t>
            </a:r>
            <a:endParaRPr lang="en-TW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590D7-95C7-3004-AECB-40C36B961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80058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t>Code — processContent API Request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POST /v1.0/users/{userId}/dataSecurityAndGovernance/processContent  •  Source: purview-client.ts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processContent request body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body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contentToProcess: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contentEntries: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    "@odata.type"</a:t>
            </a:r>
            <a:r>
              <a:rPr sz="900">
                <a:solidFill>
                  <a:srgbClr val="CDD6F4"/>
                </a:solidFill>
                <a:latin typeface="Menlo"/>
              </a:rPr>
              <a:t>: </a:t>
            </a:r>
            <a:r>
              <a:rPr sz="900">
                <a:solidFill>
                  <a:srgbClr val="A6E3A1"/>
                </a:solidFill>
                <a:latin typeface="Menlo"/>
              </a:rPr>
              <a:t>"microsoft.graph.processConversationMetadata"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identifier: </a:t>
            </a:r>
            <a:r>
              <a:rPr sz="900">
                <a:solidFill>
                  <a:srgbClr val="89B4FA"/>
                </a:solidFill>
                <a:latin typeface="Menlo"/>
              </a:rPr>
              <a:t>crypto.randomUUID()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content: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      "@odata.type"</a:t>
            </a:r>
            <a:r>
              <a:rPr sz="900">
                <a:solidFill>
                  <a:srgbClr val="CDD6F4"/>
                </a:solidFill>
                <a:latin typeface="Menlo"/>
              </a:rPr>
              <a:t>: </a:t>
            </a:r>
            <a:r>
              <a:rPr sz="900">
                <a:solidFill>
                  <a:srgbClr val="A6E3A1"/>
                </a:solidFill>
                <a:latin typeface="Menlo"/>
              </a:rPr>
              <a:t>"microsoft.graph.textContent"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data: </a:t>
            </a:r>
            <a:r>
              <a:rPr sz="900">
                <a:solidFill>
                  <a:srgbClr val="89B4FA"/>
                </a:solidFill>
                <a:latin typeface="Menlo"/>
              </a:rPr>
              <a:t>text</a:t>
            </a: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6C7086"/>
                </a:solidFill>
                <a:latin typeface="Menlo"/>
              </a:rPr>
              <a:t>// ← content to scan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correlationId: </a:t>
            </a:r>
            <a:r>
              <a:rPr sz="900">
                <a:solidFill>
                  <a:srgbClr val="89B4FA"/>
                </a:solidFill>
                <a:latin typeface="Menlo"/>
              </a:rPr>
              <a:t>crypto.randomUUID()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sequenceNumber: </a:t>
            </a:r>
            <a:r>
              <a:rPr sz="900">
                <a:solidFill>
                  <a:srgbClr val="A6E3A1"/>
                </a:solidFill>
                <a:latin typeface="Menlo"/>
              </a:rPr>
              <a:t>0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isTruncated: </a:t>
            </a:r>
            <a:r>
              <a:rPr sz="900">
                <a:solidFill>
                  <a:srgbClr val="89B4FA"/>
                </a:solidFill>
                <a:latin typeface="Menlo"/>
              </a:rPr>
              <a:t>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}],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activityMetadata: { activity: </a:t>
            </a:r>
            <a:r>
              <a:rPr sz="900">
                <a:solidFill>
                  <a:srgbClr val="A6E3A1"/>
                </a:solidFill>
                <a:latin typeface="Menlo"/>
              </a:rPr>
              <a:t>"uploadText"</a:t>
            </a:r>
            <a:r>
              <a:rPr sz="900">
                <a:solidFill>
                  <a:srgbClr val="CDD6F4"/>
                </a:solidFill>
                <a:latin typeface="Menlo"/>
              </a:rPr>
              <a:t>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protectedAppMetadata: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name: </a:t>
            </a:r>
            <a:r>
              <a:rPr sz="900">
                <a:solidFill>
                  <a:srgbClr val="A6E3A1"/>
                </a:solidFill>
                <a:latin typeface="Menlo"/>
              </a:rPr>
              <a:t>"Agent Warden"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applicationLocation: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      "@odata.type"</a:t>
            </a:r>
            <a:r>
              <a:rPr sz="900">
                <a:solidFill>
                  <a:srgbClr val="CDD6F4"/>
                </a:solidFill>
                <a:latin typeface="Menlo"/>
              </a:rPr>
              <a:t>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        "#microsoft.graph.policyLocationApplication"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value: </a:t>
            </a:r>
            <a:r>
              <a:rPr sz="900">
                <a:solidFill>
                  <a:srgbClr val="89B4FA"/>
                </a:solidFill>
                <a:latin typeface="Menlo"/>
              </a:rPr>
              <a:t>CLIENT_ID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};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7432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Parse processContent response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data = </a:t>
            </a:r>
            <a:r>
              <a:rPr sz="900">
                <a:solidFill>
                  <a:srgbClr val="89B4FA"/>
                </a:solidFill>
                <a:latin typeface="Menlo"/>
              </a:rPr>
              <a:t>await </a:t>
            </a:r>
            <a:r>
              <a:rPr sz="900">
                <a:solidFill>
                  <a:srgbClr val="CDD6F4"/>
                </a:solidFill>
                <a:latin typeface="Menlo"/>
              </a:rPr>
              <a:t>resp.json();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actions = data.policyActions ?? [];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Check for restrictAccess or block actions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blocked = actions.some(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(a) =&gt; a.action === </a:t>
            </a:r>
            <a:r>
              <a:rPr sz="900">
                <a:solidFill>
                  <a:srgbClr val="A6E3A1"/>
                </a:solidFill>
                <a:latin typeface="Menlo"/>
              </a:rPr>
              <a:t>"restrictAccess"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|| a.action === </a:t>
            </a:r>
            <a:r>
              <a:rPr sz="900">
                <a:solidFill>
                  <a:srgbClr val="A6E3A1"/>
                </a:solidFill>
                <a:latin typeface="Menlo"/>
              </a:rPr>
              <a:t>"block"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Example response when BLOCKED: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  "policyActions":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    "@odata.type":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      "#microsoft.graph.restrictAccessAction",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    "action": "restrictAccess",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    "restrictionAction": "block"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Cross-tenant authentication (purview-client.ts)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credential = </a:t>
            </a:r>
            <a:r>
              <a:rPr sz="900">
                <a:solidFill>
                  <a:srgbClr val="89B4FA"/>
                </a:solidFill>
                <a:latin typeface="Menlo"/>
              </a:rPr>
              <a:t>new </a:t>
            </a:r>
            <a:r>
              <a:rPr sz="900">
                <a:solidFill>
                  <a:srgbClr val="CDD6F4"/>
                </a:solidFill>
                <a:latin typeface="Menlo"/>
              </a:rPr>
              <a:t>ClientSecretCredential(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PURVIEW_TENANT_ID</a:t>
            </a:r>
            <a:r>
              <a:rPr sz="900">
                <a:solidFill>
                  <a:srgbClr val="CDD6F4"/>
                </a:solidFill>
                <a:latin typeface="Menlo"/>
              </a:rPr>
              <a:t>,  </a:t>
            </a:r>
            <a:r>
              <a:rPr sz="900">
                <a:solidFill>
                  <a:srgbClr val="6C7086"/>
                </a:solidFill>
                <a:latin typeface="Menlo"/>
              </a:rPr>
              <a:t>// dab94ed2-...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PURVIEW_CLIENT_ID</a:t>
            </a:r>
            <a:r>
              <a:rPr sz="900">
                <a:solidFill>
                  <a:srgbClr val="CDD6F4"/>
                </a:solidFill>
                <a:latin typeface="Menlo"/>
              </a:rPr>
              <a:t>,  </a:t>
            </a:r>
            <a:r>
              <a:rPr sz="900">
                <a:solidFill>
                  <a:srgbClr val="6C7086"/>
                </a:solidFill>
                <a:latin typeface="Menlo"/>
              </a:rPr>
              <a:t>// d94c93dd-...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PURVIEW_CLIENT_SECRET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token = </a:t>
            </a:r>
            <a:r>
              <a:rPr sz="900">
                <a:solidFill>
                  <a:srgbClr val="89B4FA"/>
                </a:solidFill>
                <a:latin typeface="Menlo"/>
              </a:rPr>
              <a:t>await </a:t>
            </a:r>
            <a:r>
              <a:rPr sz="900">
                <a:solidFill>
                  <a:srgbClr val="CDD6F4"/>
                </a:solidFill>
                <a:latin typeface="Menlo"/>
              </a:rPr>
              <a:t>credential.getToken(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A6E3A1"/>
                </a:solidFill>
                <a:latin typeface="Menlo"/>
              </a:rPr>
              <a:t>"https://graph.microsoft.com/.default"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t>Code — DLP Plugin Hook Registration (index.ts)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Four layers registered as OpenClaw plugin hooks  •  Source: agent-warden-purview-dlp/src/index.ts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L1: Prompt Guard — inject DLP policy into LLM context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api.hooks.register(</a:t>
            </a:r>
            <a:r>
              <a:rPr sz="900">
                <a:solidFill>
                  <a:srgbClr val="A6E3A1"/>
                </a:solidFill>
                <a:latin typeface="Menlo"/>
              </a:rPr>
              <a:t>"before_agent_start"</a:t>
            </a:r>
            <a:r>
              <a:rPr sz="900">
                <a:solidFill>
                  <a:srgbClr val="CDD6F4"/>
                </a:solidFill>
                <a:latin typeface="Menlo"/>
              </a:rPr>
              <a:t>, </a:t>
            </a:r>
            <a:r>
              <a:rPr sz="900">
                <a:solidFill>
                  <a:srgbClr val="89B4FA"/>
                </a:solidFill>
                <a:latin typeface="Menlo"/>
              </a:rPr>
              <a:t>async </a:t>
            </a:r>
            <a:r>
              <a:rPr sz="900">
                <a:solidFill>
                  <a:srgbClr val="CDD6F4"/>
                </a:solidFill>
                <a:latin typeface="Menlo"/>
              </a:rPr>
              <a:t>()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return </a:t>
            </a:r>
            <a:r>
              <a:rPr sz="900">
                <a:solidFill>
                  <a:srgbClr val="CDD6F4"/>
                </a:solidFill>
                <a:latin typeface="Menlo"/>
              </a:rPr>
              <a:t>{ prependContext: DLP_SYSTEM_PROMPT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L3: Input Audit — scan inbound user messages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api.hooks.register(</a:t>
            </a:r>
            <a:r>
              <a:rPr sz="900">
                <a:solidFill>
                  <a:srgbClr val="A6E3A1"/>
                </a:solidFill>
                <a:latin typeface="Menlo"/>
              </a:rPr>
              <a:t>"message_received"</a:t>
            </a:r>
            <a:r>
              <a:rPr sz="900">
                <a:solidFill>
                  <a:srgbClr val="CDD6F4"/>
                </a:solidFill>
                <a:latin typeface="Menlo"/>
              </a:rPr>
              <a:t>, </a:t>
            </a:r>
            <a:r>
              <a:rPr sz="900">
                <a:solidFill>
                  <a:srgbClr val="89B4FA"/>
                </a:solidFill>
                <a:latin typeface="Menlo"/>
              </a:rPr>
              <a:t>async </a:t>
            </a:r>
            <a:r>
              <a:rPr sz="900">
                <a:solidFill>
                  <a:srgbClr val="CDD6F4"/>
                </a:solidFill>
                <a:latin typeface="Menlo"/>
              </a:rPr>
              <a:t>(ev)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result = </a:t>
            </a:r>
            <a:r>
              <a:rPr sz="900">
                <a:solidFill>
                  <a:srgbClr val="89B4FA"/>
                </a:solidFill>
                <a:latin typeface="Menlo"/>
              </a:rPr>
              <a:t>await </a:t>
            </a:r>
            <a:r>
              <a:rPr sz="900">
                <a:solidFill>
                  <a:srgbClr val="CDD6F4"/>
                </a:solidFill>
                <a:latin typeface="Menlo"/>
              </a:rPr>
              <a:t>purview.processContent(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ev.content, </a:t>
            </a:r>
            <a:r>
              <a:rPr sz="900">
                <a:solidFill>
                  <a:srgbClr val="A6E3A1"/>
                </a:solidFill>
                <a:latin typeface="Menlo"/>
              </a:rPr>
              <a:t>"uploadText"</a:t>
            </a:r>
            <a:r>
              <a:rPr sz="900">
                <a:solidFill>
                  <a:srgbClr val="CDD6F4"/>
                </a:solidFill>
                <a:latin typeface="Menlo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if </a:t>
            </a:r>
            <a:r>
              <a:rPr sz="900">
                <a:solidFill>
                  <a:srgbClr val="CDD6F4"/>
                </a:solidFill>
                <a:latin typeface="Menlo"/>
              </a:rPr>
              <a:t>(!result.allowed) tracker.taint(threadId);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6C7086"/>
                </a:solidFill>
                <a:latin typeface="Menlo"/>
              </a:rPr>
              <a:t>// void hook — cannot block, logs + taints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486400" cy="24688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L2: Output Scanner — scan tool results (SYNC)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api.hooks.register(</a:t>
            </a:r>
            <a:r>
              <a:rPr sz="900">
                <a:solidFill>
                  <a:srgbClr val="A6E3A1"/>
                </a:solidFill>
                <a:latin typeface="Menlo"/>
              </a:rPr>
              <a:t>"tool_result_persist"</a:t>
            </a:r>
            <a:r>
              <a:rPr sz="900">
                <a:solidFill>
                  <a:srgbClr val="CDD6F4"/>
                </a:solidFill>
                <a:latin typeface="Menlo"/>
              </a:rPr>
              <a:t>, (ev)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mode = purview.getExecutionMode(</a:t>
            </a:r>
            <a:r>
              <a:rPr sz="900">
                <a:solidFill>
                  <a:srgbClr val="A6E3A1"/>
                </a:solidFill>
                <a:latin typeface="Menlo"/>
              </a:rPr>
              <a:t>"uploadText"</a:t>
            </a:r>
            <a:r>
              <a:rPr sz="900">
                <a:solidFill>
                  <a:srgbClr val="CDD6F4"/>
                </a:solidFill>
                <a:latin typeface="Menlo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if </a:t>
            </a:r>
            <a:r>
              <a:rPr sz="900">
                <a:solidFill>
                  <a:srgbClr val="CDD6F4"/>
                </a:solidFill>
                <a:latin typeface="Menlo"/>
              </a:rPr>
              <a:t>(mode === </a:t>
            </a:r>
            <a:r>
              <a:rPr sz="900">
                <a:solidFill>
                  <a:srgbClr val="A6E3A1"/>
                </a:solidFill>
                <a:latin typeface="Menlo"/>
              </a:rPr>
              <a:t>"evaluateInline"</a:t>
            </a:r>
            <a:r>
              <a:rPr sz="900">
                <a:solidFill>
                  <a:srgbClr val="CDD6F4"/>
                </a:solidFill>
                <a:latin typeface="Menlo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</a:t>
            </a:r>
            <a:r>
              <a:rPr sz="900">
                <a:solidFill>
                  <a:srgbClr val="6C7086"/>
                </a:solidFill>
                <a:latin typeface="Menlo"/>
              </a:rPr>
              <a:t>// Synchronous scan via spawnSync + curl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r = purview.processContentSync(content);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</a:t>
            </a:r>
            <a:r>
              <a:rPr sz="900">
                <a:solidFill>
                  <a:srgbClr val="89B4FA"/>
                </a:solidFill>
                <a:latin typeface="Menlo"/>
              </a:rPr>
              <a:t>if </a:t>
            </a:r>
            <a:r>
              <a:rPr sz="900">
                <a:solidFill>
                  <a:srgbClr val="CDD6F4"/>
                </a:solidFill>
                <a:latin typeface="Menlo"/>
              </a:rPr>
              <a:t>(!r.allowed)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tracker.taint(threadId);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</a:t>
            </a:r>
            <a:r>
              <a:rPr sz="900">
                <a:solidFill>
                  <a:srgbClr val="89B4FA"/>
                </a:solidFill>
                <a:latin typeface="Menlo"/>
              </a:rPr>
              <a:t>return </a:t>
            </a:r>
            <a:r>
              <a:rPr sz="900">
                <a:solidFill>
                  <a:srgbClr val="CDD6F4"/>
                </a:solidFill>
                <a:latin typeface="Menlo"/>
              </a:rPr>
              <a:t>{ message: "[DLP] Redacted"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});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L2b: Response Scanner — last line of defense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Only in enforce mode, requires streaming OFF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api.hooks.register(</a:t>
            </a:r>
            <a:r>
              <a:rPr sz="900">
                <a:solidFill>
                  <a:srgbClr val="A6E3A1"/>
                </a:solidFill>
                <a:latin typeface="Menlo"/>
              </a:rPr>
              <a:t>"message_sending"</a:t>
            </a:r>
            <a:r>
              <a:rPr sz="900">
                <a:solidFill>
                  <a:srgbClr val="CDD6F4"/>
                </a:solidFill>
                <a:latin typeface="Menlo"/>
              </a:rPr>
              <a:t>, </a:t>
            </a:r>
            <a:r>
              <a:rPr sz="900">
                <a:solidFill>
                  <a:srgbClr val="89B4FA"/>
                </a:solidFill>
                <a:latin typeface="Menlo"/>
              </a:rPr>
              <a:t>async </a:t>
            </a:r>
            <a:r>
              <a:rPr sz="900">
                <a:solidFill>
                  <a:srgbClr val="CDD6F4"/>
                </a:solidFill>
                <a:latin typeface="Menlo"/>
              </a:rPr>
              <a:t>(ev)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6C7086"/>
                </a:solidFill>
                <a:latin typeface="Menlo"/>
              </a:rPr>
              <a:t>// Block unconditionally if thread was tainted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if </a:t>
            </a:r>
            <a:r>
              <a:rPr sz="900">
                <a:solidFill>
                  <a:srgbClr val="CDD6F4"/>
                </a:solidFill>
                <a:latin typeface="Menlo"/>
              </a:rPr>
              <a:t>(tracker.isTainted(threadId))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tracker.clearTaint(threadId);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</a:t>
            </a:r>
            <a:r>
              <a:rPr sz="900">
                <a:solidFill>
                  <a:srgbClr val="89B4FA"/>
                </a:solidFill>
                <a:latin typeface="Menlo"/>
              </a:rPr>
              <a:t>return </a:t>
            </a:r>
            <a:r>
              <a:rPr sz="900">
                <a:solidFill>
                  <a:srgbClr val="CDD6F4"/>
                </a:solidFill>
                <a:latin typeface="Menlo"/>
              </a:rPr>
              <a:t>{ content: "[DLP] Blocked"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r = </a:t>
            </a:r>
            <a:r>
              <a:rPr sz="900">
                <a:solidFill>
                  <a:srgbClr val="89B4FA"/>
                </a:solidFill>
                <a:latin typeface="Menlo"/>
              </a:rPr>
              <a:t>await </a:t>
            </a:r>
            <a:r>
              <a:rPr sz="900">
                <a:solidFill>
                  <a:srgbClr val="CDD6F4"/>
                </a:solidFill>
                <a:latin typeface="Menlo"/>
              </a:rPr>
              <a:t>purview.processContent(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ev.content, </a:t>
            </a:r>
            <a:r>
              <a:rPr sz="900">
                <a:solidFill>
                  <a:srgbClr val="A6E3A1"/>
                </a:solidFill>
                <a:latin typeface="Menlo"/>
              </a:rPr>
              <a:t>"uploadText"</a:t>
            </a:r>
            <a:r>
              <a:rPr sz="900">
                <a:solidFill>
                  <a:srgbClr val="CDD6F4"/>
                </a:solidFill>
                <a:latin typeface="Menlo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if </a:t>
            </a:r>
            <a:r>
              <a:rPr sz="900">
                <a:solidFill>
                  <a:srgbClr val="CDD6F4"/>
                </a:solidFill>
                <a:latin typeface="Menlo"/>
              </a:rPr>
              <a:t>(!r.allowed) </a:t>
            </a:r>
            <a:r>
              <a:rPr sz="900">
                <a:solidFill>
                  <a:srgbClr val="89B4FA"/>
                </a:solidFill>
                <a:latin typeface="Menlo"/>
              </a:rPr>
              <a:t>return </a:t>
            </a:r>
            <a:r>
              <a:rPr sz="900">
                <a:solidFill>
                  <a:srgbClr val="CDD6F4"/>
                </a:solidFill>
                <a:latin typeface="Menlo"/>
              </a:rPr>
              <a:t>{ content: "[DLP]..."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486400" cy="24688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# PowerShell — Create Entra DLP Policy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$locations</a:t>
            </a:r>
            <a:r>
              <a:rPr sz="900">
                <a:solidFill>
                  <a:srgbClr val="CDD6F4"/>
                </a:solidFill>
                <a:latin typeface="Menlo"/>
              </a:rPr>
              <a:t> = </a:t>
            </a:r>
            <a:r>
              <a:rPr sz="900">
                <a:solidFill>
                  <a:srgbClr val="A6E3A1"/>
                </a:solidFill>
                <a:latin typeface="Menlo"/>
              </a:rPr>
              <a:t>'[{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"Workload": "Applications",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"Location": "d94c93dd-...",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"LocationSource": "Entra",</a:t>
            </a:r>
            <a:r>
              <a:rPr sz="900">
                <a:solidFill>
                  <a:srgbClr val="6C7086"/>
                </a:solidFill>
                <a:latin typeface="Menlo"/>
              </a:rPr>
              <a:t>   # REQUIRED!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"LocationType": "Individual",</a:t>
            </a:r>
            <a:r>
              <a:rPr sz="900">
                <a:solidFill>
                  <a:srgbClr val="6C7086"/>
                </a:solidFill>
                <a:latin typeface="Menlo"/>
              </a:rPr>
              <a:t> # REQUIRED!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...}]'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A6E3A1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New-DlpCompliancePolicy</a:t>
            </a:r>
            <a:r>
              <a:rPr sz="900">
                <a:solidFill>
                  <a:srgbClr val="CDD6F4"/>
                </a:solidFill>
                <a:latin typeface="Menlo"/>
              </a:rPr>
              <a:t> -Name "Agent Warden"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-Locations </a:t>
            </a:r>
            <a:r>
              <a:rPr sz="900">
                <a:solidFill>
                  <a:srgbClr val="89B4FA"/>
                </a:solidFill>
                <a:latin typeface="Menlo"/>
              </a:rPr>
              <a:t>$locations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-EnforcementPlanes </a:t>
            </a:r>
            <a:r>
              <a:rPr sz="900">
                <a:solidFill>
                  <a:srgbClr val="A6E3A1"/>
                </a:solidFill>
                <a:latin typeface="Menlo"/>
              </a:rPr>
              <a:t>@("Entra")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t>Test Code — scanText() &amp; Test 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Source: agent-warden-purview-dlp/test/test-dlp-scenarios-valid.ts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async function </a:t>
            </a:r>
            <a:r>
              <a:rPr sz="900">
                <a:solidFill>
                  <a:srgbClr val="CDD6F4"/>
                </a:solidFill>
                <a:latin typeface="Menlo"/>
              </a:rPr>
              <a:t>scanText</a:t>
            </a:r>
            <a:r>
              <a:rPr sz="900">
                <a:solidFill>
                  <a:srgbClr val="89B4FA"/>
                </a:solidFill>
                <a:latin typeface="Menlo"/>
              </a:rPr>
              <a:t>(text: </a:t>
            </a:r>
            <a:r>
              <a:rPr sz="900">
                <a:solidFill>
                  <a:srgbClr val="A6E3A1"/>
                </a:solidFill>
                <a:latin typeface="Menlo"/>
              </a:rPr>
              <a:t>string</a:t>
            </a:r>
            <a:r>
              <a:rPr sz="900">
                <a:solidFill>
                  <a:srgbClr val="CDD6F4"/>
                </a:solidFill>
                <a:latin typeface="Menlo"/>
              </a:rPr>
              <a:t>): Promise&lt;ScanResult&gt;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token = </a:t>
            </a:r>
            <a:r>
              <a:rPr sz="900">
                <a:solidFill>
                  <a:srgbClr val="89B4FA"/>
                </a:solidFill>
                <a:latin typeface="Menlo"/>
              </a:rPr>
              <a:t>await </a:t>
            </a:r>
            <a:r>
              <a:rPr sz="900">
                <a:solidFill>
                  <a:srgbClr val="CDD6F4"/>
                </a:solidFill>
                <a:latin typeface="Menlo"/>
              </a:rPr>
              <a:t>getToken();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body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contentToProcess: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contentEntries: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"@odata.type": </a:t>
            </a:r>
            <a:r>
              <a:rPr sz="900">
                <a:solidFill>
                  <a:srgbClr val="A6E3A1"/>
                </a:solidFill>
                <a:latin typeface="Menlo"/>
              </a:rPr>
              <a:t>"...processConversationMetadata"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identifier: crypto.randomUUID(),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content: { data: text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correlationId: crypto.randomUUID(),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sequenceNumber: 0, isTruncated: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}],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activityMetadata: { activity: </a:t>
            </a:r>
            <a:r>
              <a:rPr sz="900">
                <a:solidFill>
                  <a:srgbClr val="A6E3A1"/>
                </a:solidFill>
                <a:latin typeface="Menlo"/>
              </a:rPr>
              <a:t>"uploadText"</a:t>
            </a:r>
            <a:r>
              <a:rPr sz="900">
                <a:solidFill>
                  <a:srgbClr val="CDD6F4"/>
                </a:solidFill>
                <a:latin typeface="Menlo"/>
              </a:rPr>
              <a:t>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protectedAppMetadata: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name: </a:t>
            </a:r>
            <a:r>
              <a:rPr sz="900">
                <a:solidFill>
                  <a:srgbClr val="A6E3A1"/>
                </a:solidFill>
                <a:latin typeface="Menlo"/>
              </a:rPr>
              <a:t>"Agent Warden"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applicationLocation: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  value: </a:t>
            </a:r>
            <a:r>
              <a:rPr sz="900">
                <a:solidFill>
                  <a:srgbClr val="89B4FA"/>
                </a:solidFill>
                <a:latin typeface="Menlo"/>
              </a:rPr>
              <a:t>CLIENT_ID</a:t>
            </a: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6C7086"/>
                </a:solidFill>
                <a:latin typeface="Menlo"/>
              </a:rPr>
              <a:t>// d94c93dd-...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resp = </a:t>
            </a:r>
            <a:r>
              <a:rPr sz="900">
                <a:solidFill>
                  <a:srgbClr val="89B4FA"/>
                </a:solidFill>
                <a:latin typeface="Menlo"/>
              </a:rPr>
              <a:t>await </a:t>
            </a:r>
            <a:r>
              <a:rPr sz="900">
                <a:solidFill>
                  <a:srgbClr val="CDD6F4"/>
                </a:solidFill>
                <a:latin typeface="Menlo"/>
              </a:rPr>
              <a:t>fetch(GRAPH_URL,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method: </a:t>
            </a:r>
            <a:r>
              <a:rPr sz="900">
                <a:solidFill>
                  <a:srgbClr val="A6E3A1"/>
                </a:solidFill>
                <a:latin typeface="Menlo"/>
              </a:rPr>
              <a:t>"POST"</a:t>
            </a:r>
            <a:r>
              <a:rPr sz="9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headers: { Authorization: `Bearer ${token}`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body: JSON.stringify(body)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data = </a:t>
            </a:r>
            <a:r>
              <a:rPr sz="900">
                <a:solidFill>
                  <a:srgbClr val="89B4FA"/>
                </a:solidFill>
                <a:latin typeface="Menlo"/>
              </a:rPr>
              <a:t>await </a:t>
            </a:r>
            <a:r>
              <a:rPr sz="900">
                <a:solidFill>
                  <a:srgbClr val="CDD6F4"/>
                </a:solidFill>
                <a:latin typeface="Menlo"/>
              </a:rPr>
              <a:t>resp.json();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actions = data.policyActions ?? [];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blocked = actions.some(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  a =&gt; a.action === </a:t>
            </a:r>
            <a:r>
              <a:rPr sz="900">
                <a:solidFill>
                  <a:srgbClr val="A6E3A1"/>
                </a:solidFill>
                <a:latin typeface="Menlo"/>
              </a:rPr>
              <a:t>"restrictAccess"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return </a:t>
            </a:r>
            <a:r>
              <a:rPr sz="900">
                <a:solidFill>
                  <a:srgbClr val="CDD6F4"/>
                </a:solidFill>
                <a:latin typeface="Menlo"/>
              </a:rPr>
              <a:t>{ allowed: !blocked, actions, httpStatus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Test scenario type definition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interface </a:t>
            </a:r>
            <a:r>
              <a:rPr sz="900">
                <a:solidFill>
                  <a:srgbClr val="CDD6F4"/>
                </a:solidFill>
                <a:latin typeface="Menlo"/>
              </a:rPr>
              <a:t>Scenario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name: </a:t>
            </a:r>
            <a:r>
              <a:rPr sz="900">
                <a:solidFill>
                  <a:srgbClr val="A6E3A1"/>
                </a:solidFill>
                <a:latin typeface="Menlo"/>
              </a:rPr>
              <a:t>string</a:t>
            </a:r>
            <a:r>
              <a:rPr sz="900">
                <a:solidFill>
                  <a:srgbClr val="CDD6F4"/>
                </a:solidFill>
                <a:latin typeface="Menl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text: </a:t>
            </a:r>
            <a:r>
              <a:rPr sz="900">
                <a:solidFill>
                  <a:srgbClr val="A6E3A1"/>
                </a:solidFill>
                <a:latin typeface="Menlo"/>
              </a:rPr>
              <a:t>string</a:t>
            </a:r>
            <a:r>
              <a:rPr sz="900">
                <a:solidFill>
                  <a:srgbClr val="CDD6F4"/>
                </a:solidFill>
                <a:latin typeface="Menlo"/>
              </a:rPr>
              <a:t>;    </a:t>
            </a:r>
            <a:r>
              <a:rPr sz="900">
                <a:solidFill>
                  <a:srgbClr val="6C7086"/>
                </a:solidFill>
                <a:latin typeface="Menlo"/>
              </a:rPr>
              <a:t>// PII content to scan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expected: </a:t>
            </a:r>
            <a:r>
              <a:rPr sz="900">
                <a:solidFill>
                  <a:srgbClr val="A6E3A1"/>
                </a:solidFill>
                <a:latin typeface="Menlo"/>
              </a:rPr>
              <a:t>"block" | "allow"</a:t>
            </a:r>
            <a:r>
              <a:rPr sz="900">
                <a:solidFill>
                  <a:srgbClr val="CDD6F4"/>
                </a:solidFill>
                <a:latin typeface="Menl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notes: </a:t>
            </a:r>
            <a:r>
              <a:rPr sz="900">
                <a:solidFill>
                  <a:srgbClr val="A6E3A1"/>
                </a:solidFill>
                <a:latin typeface="Menlo"/>
              </a:rPr>
              <a:t>string</a:t>
            </a:r>
            <a:r>
              <a:rPr sz="900">
                <a:solidFill>
                  <a:srgbClr val="CDD6F4"/>
                </a:solidFill>
                <a:latin typeface="Menl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Test runner — iterate scenarios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9B4FA"/>
                </a:solidFill>
                <a:latin typeface="Menlo"/>
              </a:rPr>
              <a:t>for </a:t>
            </a:r>
            <a:r>
              <a:rPr sz="900">
                <a:solidFill>
                  <a:srgbClr val="CDD6F4"/>
                </a:solidFill>
                <a:latin typeface="Menlo"/>
              </a:rPr>
              <a:t>(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scenario </a:t>
            </a:r>
            <a:r>
              <a:rPr sz="900">
                <a:solidFill>
                  <a:srgbClr val="89B4FA"/>
                </a:solidFill>
                <a:latin typeface="Menlo"/>
              </a:rPr>
              <a:t>of </a:t>
            </a:r>
            <a:r>
              <a:rPr sz="900">
                <a:solidFill>
                  <a:srgbClr val="CDD6F4"/>
                </a:solidFill>
                <a:latin typeface="Menlo"/>
              </a:rPr>
              <a:t>scenarios)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result = </a:t>
            </a:r>
            <a:r>
              <a:rPr sz="900">
                <a:solidFill>
                  <a:srgbClr val="89B4FA"/>
                </a:solidFill>
                <a:latin typeface="Menlo"/>
              </a:rPr>
              <a:t>await </a:t>
            </a:r>
            <a:r>
              <a:rPr sz="900">
                <a:solidFill>
                  <a:srgbClr val="CDD6F4"/>
                </a:solidFill>
                <a:latin typeface="Menlo"/>
              </a:rPr>
              <a:t>scanText(scenario.text);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actual = result.allowed ? "allow" : "block";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</a:t>
            </a:r>
            <a:r>
              <a:rPr sz="900">
                <a:solidFill>
                  <a:srgbClr val="89B4FA"/>
                </a:solidFill>
                <a:latin typeface="Menlo"/>
              </a:rPr>
              <a:t>const </a:t>
            </a:r>
            <a:r>
              <a:rPr sz="900">
                <a:solidFill>
                  <a:srgbClr val="CDD6F4"/>
                </a:solidFill>
                <a:latin typeface="Menlo"/>
              </a:rPr>
              <a:t>pass = actual === scenario.expected;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  console.log(`${scenario.name}: ${actual} ${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Menlo"/>
              </a:rPr>
              <a:t>    pass ? "✓" : "✗ MISMATCH"</a:t>
            </a:r>
            <a:r>
              <a:rPr sz="900">
                <a:solidFill>
                  <a:srgbClr val="CDD6F4"/>
                </a:solidFill>
                <a:latin typeface="Menlo"/>
              </a:rPr>
              <a:t>}`);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Menlo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Run command: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export PURVIEW_DLP_TENANT_ID=dab94ed2-...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export PURVIEW_DLP_USER_ID=21bbd518-...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export PURVIEW_DLP_CLIENT_SECRET=$(kubectl ...)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node --experimental-strip-types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  test/test-dlp-scenarios-valid.ts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6C7086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GRAPH_URL: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https://graph.microsoft.com/v1.0/users/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  {userId}/dataSecurityAndGovernance/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Menlo"/>
              </a:rPr>
              <a:t>//   processContent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t>Full Test Cases — Scenarios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2D8E"/>
                </a:solidFill>
                <a:latin typeface="Segoe UI"/>
              </a:defRPr>
            </a:pPr>
            <a:r>
              <a:rPr dirty="0"/>
              <a:t>Scenario 1: China PII (ChatGPT text input)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// Input text — Chinese user PII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姓名: 王伟 (Wáng Wěi)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身份证号: 11010519900307783X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Passport number: G12345678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Credit card number: </a:t>
            </a:r>
            <a:r>
              <a:rPr sz="1000">
                <a:solidFill>
                  <a:srgbClr val="A6E3A1"/>
                </a:solidFill>
                <a:latin typeface="Menlo"/>
              </a:rPr>
              <a:t>6225887632109878</a:t>
            </a:r>
            <a:r>
              <a:rPr sz="1000">
                <a:solidFill>
                  <a:srgbClr val="CDD6F4"/>
                </a:solidFill>
                <a:latin typeface="Menlo"/>
              </a:rPr>
              <a:t>  </a:t>
            </a:r>
            <a:r>
              <a:rPr sz="1000">
                <a:solidFill>
                  <a:srgbClr val="6C7086"/>
                </a:solidFill>
                <a:latin typeface="Menlo"/>
              </a:rPr>
              <a:t>← UnionPay, Luhn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地址: 北京市朝阳区建国路88号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Expected: </a:t>
            </a:r>
            <a:r>
              <a:rPr sz="1000">
                <a:solidFill>
                  <a:srgbClr val="89B4FA"/>
                </a:solidFill>
                <a:latin typeface="Menlo"/>
              </a:rPr>
              <a:t>BLOCK</a:t>
            </a:r>
            <a:r>
              <a:rPr sz="1000">
                <a:solidFill>
                  <a:srgbClr val="CDD6F4"/>
                </a:solidFill>
                <a:latin typeface="Menlo"/>
              </a:rPr>
              <a:t>   Actual: </a:t>
            </a:r>
            <a:r>
              <a:rPr sz="100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SIT matched: Credit Card Number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HTTP 200 | restrictAccess →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2D8E"/>
                </a:solidFill>
                <a:latin typeface="Segoe UI"/>
              </a:defRPr>
            </a:pPr>
            <a:r>
              <a:t>Scenario 2: US PII (Gemini file attachment)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5486400" cy="2286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// Input text — US user PII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Name: Michael Anderson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SSN: </a:t>
            </a:r>
            <a:r>
              <a:rPr sz="1000">
                <a:solidFill>
                  <a:srgbClr val="A6E3A1"/>
                </a:solidFill>
                <a:latin typeface="Menlo"/>
              </a:rPr>
              <a:t>234-67-8901</a:t>
            </a:r>
            <a:r>
              <a:rPr sz="1000">
                <a:solidFill>
                  <a:srgbClr val="CDD6F4"/>
                </a:solidFill>
                <a:latin typeface="Menlo"/>
              </a:rPr>
              <a:t>                  </a:t>
            </a:r>
            <a:r>
              <a:rPr sz="1000">
                <a:solidFill>
                  <a:srgbClr val="6C7086"/>
                </a:solidFill>
                <a:latin typeface="Menlo"/>
              </a:rPr>
              <a:t>← Valid format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Passport number: 285194736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Credit card number: </a:t>
            </a:r>
            <a:r>
              <a:rPr sz="1000">
                <a:solidFill>
                  <a:srgbClr val="A6E3A1"/>
                </a:solidFill>
                <a:latin typeface="Menlo"/>
              </a:rPr>
              <a:t>4242424242424242</a:t>
            </a:r>
            <a:r>
              <a:rPr sz="1000">
                <a:solidFill>
                  <a:srgbClr val="CDD6F4"/>
                </a:solidFill>
                <a:latin typeface="Menlo"/>
              </a:rPr>
              <a:t>  </a:t>
            </a:r>
            <a:r>
              <a:rPr sz="1000">
                <a:solidFill>
                  <a:srgbClr val="6C7086"/>
                </a:solidFill>
                <a:latin typeface="Menlo"/>
              </a:rPr>
              <a:t>← Visa, Luhn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Address: 456 Maple Ave, Los Angeles, CA 90001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Expected: </a:t>
            </a:r>
            <a:r>
              <a:rPr sz="1000">
                <a:solidFill>
                  <a:srgbClr val="89B4FA"/>
                </a:solidFill>
                <a:latin typeface="Menlo"/>
              </a:rPr>
              <a:t>BLOCK</a:t>
            </a:r>
            <a:r>
              <a:rPr sz="1000">
                <a:solidFill>
                  <a:srgbClr val="CDD6F4"/>
                </a:solidFill>
                <a:latin typeface="Menlo"/>
              </a:rPr>
              <a:t>   Actual: </a:t>
            </a:r>
            <a:r>
              <a:rPr sz="100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SITs: Credit Card + SSN + U.S./U.K. Passport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HTTP 200 | restrictAccess →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Segoe UI"/>
              </a:defRPr>
            </a:pPr>
            <a:r>
              <a:t>API Response (both scenarios identical)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A6E3A1"/>
                </a:solidFill>
                <a:latin typeface="Menlo"/>
              </a:rPr>
              <a:t>  "policyActions"</a:t>
            </a:r>
            <a:r>
              <a:rPr sz="1000">
                <a:solidFill>
                  <a:srgbClr val="CDD6F4"/>
                </a:solidFill>
                <a:latin typeface="Menlo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A6E3A1"/>
                </a:solidFill>
                <a:latin typeface="Menlo"/>
              </a:rPr>
              <a:t>      "@odata.type"</a:t>
            </a:r>
            <a:r>
              <a:rPr sz="1000">
                <a:solidFill>
                  <a:srgbClr val="CDD6F4"/>
                </a:solidFill>
                <a:latin typeface="Menlo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A6E3A1"/>
                </a:solidFill>
                <a:latin typeface="Menlo"/>
              </a:rPr>
              <a:t>        "#microsoft.graph.restrictAccessAction"</a:t>
            </a:r>
            <a:r>
              <a:rPr sz="10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A6E3A1"/>
                </a:solidFill>
                <a:latin typeface="Menlo"/>
              </a:rPr>
              <a:t>      "action"</a:t>
            </a:r>
            <a:r>
              <a:rPr sz="1000">
                <a:solidFill>
                  <a:srgbClr val="CDD6F4"/>
                </a:solidFill>
                <a:latin typeface="Menlo"/>
              </a:rPr>
              <a:t>: </a:t>
            </a:r>
            <a:r>
              <a:rPr sz="1000">
                <a:solidFill>
                  <a:srgbClr val="A6E3A1"/>
                </a:solidFill>
                <a:latin typeface="Menlo"/>
              </a:rPr>
              <a:t>"restrictAccess"</a:t>
            </a:r>
            <a:r>
              <a:rPr sz="1000">
                <a:solidFill>
                  <a:srgbClr val="CDD6F4"/>
                </a:solidFill>
                <a:latin typeface="Menl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A6E3A1"/>
                </a:solidFill>
                <a:latin typeface="Menlo"/>
              </a:rPr>
              <a:t>      "restrictionAction"</a:t>
            </a:r>
            <a:r>
              <a:rPr sz="1000">
                <a:solidFill>
                  <a:srgbClr val="CDD6F4"/>
                </a:solidFill>
                <a:latin typeface="Menlo"/>
              </a:rPr>
              <a:t>: </a:t>
            </a:r>
            <a:r>
              <a:rPr sz="1000">
                <a:solidFill>
                  <a:srgbClr val="A6E3A1"/>
                </a:solidFill>
                <a:latin typeface="Menlo"/>
              </a:rPr>
              <a:t>"block"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3366"/>
                </a:solidFill>
                <a:latin typeface="Segoe UI"/>
              </a:defRPr>
            </a:pPr>
            <a:r>
              <a:t>Checksum Validation Notes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All credit card numbers pass the Luhn algorithm — required for the Credit Card Number SIT to trigger.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06060"/>
                </a:solidFill>
                <a:latin typeface="Segoe UI"/>
              </a:defRPr>
            </a:pPr>
            <a:r>
              <a:t>• UnionPay 6225... — BIN range 622126-622925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06060"/>
                </a:solidFill>
                <a:latin typeface="Segoe UI"/>
              </a:defRPr>
            </a:pPr>
            <a:r>
              <a:t>• Visa 4242... — standard test card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06060"/>
                </a:solidFill>
                <a:latin typeface="Segoe UI"/>
              </a:defRPr>
            </a:pPr>
            <a:r>
              <a:t>• JCB 3528... — BIN range 3528-3589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06060"/>
                </a:solidFill>
                <a:latin typeface="Segoe UI"/>
              </a:defRPr>
            </a:pPr>
            <a:r>
              <a:t>• MasterCard 5555... — BIN range 5100-5599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06060"/>
                </a:solidFill>
                <a:latin typeface="Segoe UI"/>
              </a:defRPr>
            </a:pPr>
            <a:r>
              <a:t>• MC 2221... — BIN range 2221-2720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06060"/>
                </a:solidFill>
                <a:latin typeface="Segoe UI"/>
              </a:defRPr>
            </a:pPr>
            <a:r>
              <a:t>Keywords must be in the correct language for corroborative evidence (e.g., クレジットカード for Japanese).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t>Full Test Cases — Scenarios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2D8E"/>
                </a:solidFill>
                <a:latin typeface="Segoe UI"/>
              </a:defRPr>
            </a:pPr>
            <a:r>
              <a:rPr dirty="0"/>
              <a:t>Scenario 3: Japan PII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// Input text — Japanese user PII (native keywords)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氏名: 佐藤 花子 (Sato Hanako)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マイナンバー: </a:t>
            </a:r>
            <a:r>
              <a:rPr sz="1000">
                <a:solidFill>
                  <a:srgbClr val="A6E3A1"/>
                </a:solidFill>
                <a:latin typeface="Menlo"/>
              </a:rPr>
              <a:t>123456789018</a:t>
            </a:r>
            <a:r>
              <a:rPr sz="1000">
                <a:solidFill>
                  <a:srgbClr val="CDD6F4"/>
                </a:solidFill>
                <a:latin typeface="Menlo"/>
              </a:rPr>
              <a:t>        </a:t>
            </a:r>
            <a:r>
              <a:rPr sz="1000">
                <a:solidFill>
                  <a:srgbClr val="6C7086"/>
                </a:solidFill>
                <a:latin typeface="Menlo"/>
              </a:rPr>
              <a:t>← Valid check digit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パスポート番号: TR1234567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クレジットカード番号: </a:t>
            </a:r>
            <a:r>
              <a:rPr sz="1000">
                <a:solidFill>
                  <a:srgbClr val="A6E3A1"/>
                </a:solidFill>
                <a:latin typeface="Menlo"/>
              </a:rPr>
              <a:t>3528234567890126</a:t>
            </a:r>
            <a:r>
              <a:rPr sz="1000">
                <a:solidFill>
                  <a:srgbClr val="CDD6F4"/>
                </a:solidFill>
                <a:latin typeface="Menlo"/>
              </a:rPr>
              <a:t> </a:t>
            </a:r>
            <a:r>
              <a:rPr sz="1000">
                <a:solidFill>
                  <a:srgbClr val="6C7086"/>
                </a:solidFill>
                <a:latin typeface="Menlo"/>
              </a:rPr>
              <a:t>← JCB, Luhn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住所: 東京都渋谷区神宮前1-2-3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Expected: </a:t>
            </a:r>
            <a:r>
              <a:rPr sz="1000">
                <a:solidFill>
                  <a:srgbClr val="89B4FA"/>
                </a:solidFill>
                <a:latin typeface="Menlo"/>
              </a:rPr>
              <a:t>BLOCK</a:t>
            </a:r>
            <a:r>
              <a:rPr sz="1000">
                <a:solidFill>
                  <a:srgbClr val="CDD6F4"/>
                </a:solidFill>
                <a:latin typeface="Menlo"/>
              </a:rPr>
              <a:t>   Actual: </a:t>
            </a:r>
            <a:r>
              <a:rPr sz="100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SITs: Credit Card + My Number Personal + Passport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HTTP 200 | restrictAccess →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2D8E"/>
                </a:solidFill>
                <a:latin typeface="Segoe UI"/>
              </a:defRPr>
            </a:pPr>
            <a:r>
              <a:rPr dirty="0"/>
              <a:t>Scenario 4: France PII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5486400" cy="2286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// Input text — French user PII (French keywords)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Nom: Marie Dupont-Lefèvre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Numéro de sécurité sociale: </a:t>
            </a:r>
            <a:r>
              <a:rPr sz="1000">
                <a:solidFill>
                  <a:srgbClr val="A6E3A1"/>
                </a:solidFill>
                <a:latin typeface="Menlo"/>
              </a:rPr>
              <a:t>185067283009381</a:t>
            </a:r>
            <a:r>
              <a:rPr sz="1000">
                <a:solidFill>
                  <a:srgbClr val="CDD6F4"/>
                </a:solidFill>
                <a:latin typeface="Menlo"/>
              </a:rPr>
              <a:t> </a:t>
            </a:r>
            <a:r>
              <a:rPr sz="1000">
                <a:solidFill>
                  <a:srgbClr val="6C7086"/>
                </a:solidFill>
                <a:latin typeface="Menlo"/>
              </a:rPr>
              <a:t>← INSÉE key=81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Numéro de passeport: 10AB12345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Numéro de carte de crédit: </a:t>
            </a:r>
            <a:r>
              <a:rPr sz="1000">
                <a:solidFill>
                  <a:srgbClr val="A6E3A1"/>
                </a:solidFill>
                <a:latin typeface="Menlo"/>
              </a:rPr>
              <a:t>5555555555554444</a:t>
            </a:r>
            <a:r>
              <a:rPr sz="1000">
                <a:solidFill>
                  <a:srgbClr val="CDD6F4"/>
                </a:solidFill>
                <a:latin typeface="Menlo"/>
              </a:rPr>
              <a:t> </a:t>
            </a:r>
            <a:r>
              <a:rPr sz="1000">
                <a:solidFill>
                  <a:srgbClr val="6C7086"/>
                </a:solidFill>
                <a:latin typeface="Menlo"/>
              </a:rPr>
              <a:t>← MC, Luhn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Adresse: 15 Rue de Rivoli, 75001 Paris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Expected: </a:t>
            </a:r>
            <a:r>
              <a:rPr sz="1000">
                <a:solidFill>
                  <a:srgbClr val="89B4FA"/>
                </a:solidFill>
                <a:latin typeface="Menlo"/>
              </a:rPr>
              <a:t>BLOCK</a:t>
            </a:r>
            <a:r>
              <a:rPr sz="1000">
                <a:solidFill>
                  <a:srgbClr val="CDD6F4"/>
                </a:solidFill>
                <a:latin typeface="Menlo"/>
              </a:rPr>
              <a:t>   Actual: </a:t>
            </a:r>
            <a:r>
              <a:rPr sz="100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SITs: Credit Card + France Passport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HTTP 200 | restrictAccess →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3366"/>
                </a:solidFill>
                <a:latin typeface="Segoe UI"/>
              </a:defRPr>
            </a:pPr>
            <a:r>
              <a:t>Data Corrections Applied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5B2D8E"/>
                </a:solidFill>
                <a:latin typeface="Segoe UI"/>
              </a:defRPr>
            </a:pPr>
            <a:r>
              <a:t>Scenario 3 — Japan: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JCB: 3528234567890123 → 3528234567890126 (Luhn fix)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My Number: 123456789012 → 123456789018 (check digit fix)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Added Japanese keywords: マイナンバー, パスポート番号, クレジットカード番号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5B2D8E"/>
                </a:solidFill>
                <a:latin typeface="Segoe UI"/>
              </a:defRPr>
            </a:pPr>
            <a:r>
              <a:t>Scenario 4 — France: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INSÉE: 1850672830093 → 185067283009381 (added 2-digit key: 81)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Added French keywords: Numéro de passeport, Numéro de carte de crédit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931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3366"/>
                </a:solidFill>
                <a:latin typeface="Segoe UI"/>
              </a:defRPr>
            </a:pPr>
            <a:r>
              <a:t>Why Corroborative Keywords Matter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0000"/>
                </a:solidFill>
                <a:latin typeface="Segoe UI"/>
              </a:defRPr>
            </a:pPr>
            <a:r>
              <a:t>Purview SITs use a two-part detection model: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t>1. Primary pattern — regex/checksum match (e.g., Luhn algorithm for credit cards)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t>2. Corroborative evidence — nearby keywords (e.g., "credit card", "クレジットカード")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06060"/>
                </a:solidFill>
                <a:latin typeface="Segoe UI"/>
              </a:defRPr>
            </a:pPr>
            <a:r>
              <a:t>Without corroborative keywords, confidence stays Low even if the number is valid. The DLP rule requires Medium (85+) confidence.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Segoe UI"/>
              </a:defRPr>
            </a:pPr>
            <a:r>
              <a:t>Full Test Case — Scenario 5 &amp; Terminal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2D8E"/>
                </a:solidFill>
                <a:latin typeface="Segoe UI"/>
              </a:defRPr>
            </a:pPr>
            <a:r>
              <a:rPr dirty="0"/>
              <a:t>Scenario 5: Russia PII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4688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C7086"/>
                </a:solidFill>
                <a:latin typeface="Menlo"/>
              </a:rPr>
              <a:t>// Input text — Russian user PII (Cyrillic keywords)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DD6F4"/>
                </a:solidFill>
                <a:latin typeface="Menlo"/>
              </a:rPr>
              <a:t>ФИО: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Иванов</a:t>
            </a:r>
            <a:r>
              <a:rPr sz="1000" dirty="0">
                <a:solidFill>
                  <a:srgbClr val="CDD6F4"/>
                </a:solidFill>
                <a:latin typeface="Menlo"/>
              </a:rPr>
              <a:t>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Алексей</a:t>
            </a:r>
            <a:r>
              <a:rPr sz="1000" dirty="0">
                <a:solidFill>
                  <a:srgbClr val="CDD6F4"/>
                </a:solidFill>
                <a:latin typeface="Menlo"/>
              </a:rPr>
              <a:t>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Петрович</a:t>
            </a:r>
            <a:endParaRPr sz="1000" dirty="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DD6F4"/>
                </a:solidFill>
                <a:latin typeface="Menlo"/>
              </a:rPr>
              <a:t>ИНН: </a:t>
            </a:r>
            <a:r>
              <a:rPr sz="1000" dirty="0">
                <a:solidFill>
                  <a:srgbClr val="A6E3A1"/>
                </a:solidFill>
                <a:latin typeface="Menlo"/>
              </a:rPr>
              <a:t>770123456703</a:t>
            </a:r>
            <a:r>
              <a:rPr sz="1000" dirty="0">
                <a:solidFill>
                  <a:srgbClr val="CDD6F4"/>
                </a:solidFill>
                <a:latin typeface="Menlo"/>
              </a:rPr>
              <a:t>                 </a:t>
            </a:r>
            <a:r>
              <a:rPr sz="1000" dirty="0">
                <a:solidFill>
                  <a:srgbClr val="6C7086"/>
                </a:solidFill>
                <a:latin typeface="Menlo"/>
              </a:rPr>
              <a:t>← Valid check digits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 err="1">
                <a:solidFill>
                  <a:srgbClr val="CDD6F4"/>
                </a:solidFill>
                <a:latin typeface="Menlo"/>
              </a:rPr>
              <a:t>Номер</a:t>
            </a:r>
            <a:r>
              <a:rPr sz="1000" dirty="0">
                <a:solidFill>
                  <a:srgbClr val="CDD6F4"/>
                </a:solidFill>
                <a:latin typeface="Menlo"/>
              </a:rPr>
              <a:t>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паспорта</a:t>
            </a:r>
            <a:r>
              <a:rPr sz="1000" dirty="0">
                <a:solidFill>
                  <a:srgbClr val="CDD6F4"/>
                </a:solidFill>
                <a:latin typeface="Menlo"/>
              </a:rPr>
              <a:t>: 45 1234567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 err="1">
                <a:solidFill>
                  <a:srgbClr val="CDD6F4"/>
                </a:solidFill>
                <a:latin typeface="Menlo"/>
              </a:rPr>
              <a:t>Номер</a:t>
            </a:r>
            <a:r>
              <a:rPr sz="1000" dirty="0">
                <a:solidFill>
                  <a:srgbClr val="CDD6F4"/>
                </a:solidFill>
                <a:latin typeface="Menlo"/>
              </a:rPr>
              <a:t>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кредитной</a:t>
            </a:r>
            <a:r>
              <a:rPr sz="1000" dirty="0">
                <a:solidFill>
                  <a:srgbClr val="CDD6F4"/>
                </a:solidFill>
                <a:latin typeface="Menlo"/>
              </a:rPr>
              <a:t>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карты</a:t>
            </a:r>
            <a:r>
              <a:rPr sz="1000" dirty="0">
                <a:solidFill>
                  <a:srgbClr val="CDD6F4"/>
                </a:solidFill>
                <a:latin typeface="Menlo"/>
              </a:rPr>
              <a:t>: </a:t>
            </a:r>
            <a:r>
              <a:rPr sz="1000" dirty="0">
                <a:solidFill>
                  <a:srgbClr val="A6E3A1"/>
                </a:solidFill>
                <a:latin typeface="Menlo"/>
              </a:rPr>
              <a:t>2221001234567896</a:t>
            </a:r>
            <a:r>
              <a:rPr sz="1000" dirty="0">
                <a:solidFill>
                  <a:srgbClr val="CDD6F4"/>
                </a:solidFill>
                <a:latin typeface="Menlo"/>
              </a:rPr>
              <a:t> </a:t>
            </a:r>
            <a:r>
              <a:rPr sz="1000" dirty="0">
                <a:solidFill>
                  <a:srgbClr val="6C7086"/>
                </a:solidFill>
                <a:latin typeface="Menlo"/>
              </a:rPr>
              <a:t>← MC 2221, Luhn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 err="1">
                <a:solidFill>
                  <a:srgbClr val="CDD6F4"/>
                </a:solidFill>
                <a:latin typeface="Menlo"/>
              </a:rPr>
              <a:t>Адрес</a:t>
            </a:r>
            <a:r>
              <a:rPr sz="1000" dirty="0">
                <a:solidFill>
                  <a:srgbClr val="CDD6F4"/>
                </a:solidFill>
                <a:latin typeface="Menlo"/>
              </a:rPr>
              <a:t>: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ул</a:t>
            </a:r>
            <a:r>
              <a:rPr sz="1000" dirty="0">
                <a:solidFill>
                  <a:srgbClr val="CDD6F4"/>
                </a:solidFill>
                <a:latin typeface="Menlo"/>
              </a:rPr>
              <a:t>.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Тверская</a:t>
            </a:r>
            <a:r>
              <a:rPr sz="1000" dirty="0">
                <a:solidFill>
                  <a:srgbClr val="CDD6F4"/>
                </a:solidFill>
                <a:latin typeface="Menlo"/>
              </a:rPr>
              <a:t>,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д</a:t>
            </a:r>
            <a:r>
              <a:rPr sz="1000" dirty="0">
                <a:solidFill>
                  <a:srgbClr val="CDD6F4"/>
                </a:solidFill>
                <a:latin typeface="Menlo"/>
              </a:rPr>
              <a:t>. 15, </a:t>
            </a:r>
            <a:r>
              <a:rPr sz="1000" dirty="0" err="1">
                <a:solidFill>
                  <a:srgbClr val="CDD6F4"/>
                </a:solidFill>
                <a:latin typeface="Menlo"/>
              </a:rPr>
              <a:t>Москва</a:t>
            </a:r>
            <a:r>
              <a:rPr sz="1000" dirty="0">
                <a:solidFill>
                  <a:srgbClr val="CDD6F4"/>
                </a:solidFill>
                <a:latin typeface="Menlo"/>
              </a:rPr>
              <a:t>, 125009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DD6F4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DD6F4"/>
                </a:solidFill>
                <a:latin typeface="Menlo"/>
              </a:rPr>
              <a:t>Expected: </a:t>
            </a:r>
            <a:r>
              <a:rPr sz="1000" dirty="0">
                <a:solidFill>
                  <a:srgbClr val="89B4FA"/>
                </a:solidFill>
                <a:latin typeface="Menlo"/>
              </a:rPr>
              <a:t>BLOCK</a:t>
            </a:r>
            <a:r>
              <a:rPr sz="1000" dirty="0">
                <a:solidFill>
                  <a:srgbClr val="CDD6F4"/>
                </a:solidFill>
                <a:latin typeface="Menlo"/>
              </a:rPr>
              <a:t>   Actual: </a:t>
            </a:r>
            <a:r>
              <a:rPr sz="1000" dirty="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C7086"/>
                </a:solidFill>
                <a:latin typeface="Menlo"/>
              </a:rPr>
              <a:t>SITs: Credit Card + Russian Passport + Taxpayer 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C7086"/>
                </a:solidFill>
                <a:latin typeface="Menlo"/>
              </a:rPr>
              <a:t>HTTP 200 | </a:t>
            </a:r>
            <a:r>
              <a:rPr sz="1000" dirty="0" err="1">
                <a:solidFill>
                  <a:srgbClr val="6C7086"/>
                </a:solidFill>
                <a:latin typeface="Menlo"/>
              </a:rPr>
              <a:t>restrictAccess</a:t>
            </a:r>
            <a:r>
              <a:rPr sz="1000" dirty="0">
                <a:solidFill>
                  <a:srgbClr val="6C7086"/>
                </a:solidFill>
                <a:latin typeface="Menlo"/>
              </a:rPr>
              <a:t> → block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C7086"/>
                </a:solidFill>
                <a:latin typeface="Menlo"/>
              </a:rPr>
              <a:t>Note: Mir (2200) not recognized by Purview — used MC 2221 prefix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Segoe UI"/>
              </a:defRPr>
            </a:pPr>
            <a:r>
              <a:t>Terminal Output — Full Test Run (April 15,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11247120" cy="20116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C7086"/>
                </a:solidFill>
                <a:latin typeface="Menlo"/>
              </a:rPr>
              <a:t>$ </a:t>
            </a:r>
            <a:r>
              <a:rPr sz="1000">
                <a:solidFill>
                  <a:srgbClr val="CDD6F4"/>
                </a:solidFill>
                <a:latin typeface="Menlo"/>
              </a:rPr>
              <a:t>node --experimental-strip-types test/test-dlp-scenarios-valid.ts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A6E3A1"/>
                </a:solidFill>
                <a:latin typeface="Menlo"/>
              </a:rPr>
              <a:t>✓ Token acquired successfully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>
              <a:solidFill>
                <a:srgbClr val="A6E3A1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━━━ Scenario 1: China PII (valid Luhn)            HTTP: 200  Result: </a:t>
            </a:r>
            <a:r>
              <a:rPr sz="100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━━━ Scenario 2: US PII (valid Luhn + SSN)         HTTP: 200  Result: </a:t>
            </a:r>
            <a:r>
              <a:rPr sz="100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━━━ Scenario 3: Japan PII (valid Luhn + My Number) HTTP: 200  Result: </a:t>
            </a:r>
            <a:r>
              <a:rPr sz="100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━━━ Scenario 4: France PII (valid Luhn + INSÉE)   HTTP: 200  Result: </a:t>
            </a:r>
            <a:r>
              <a:rPr sz="100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━━━ Scenario 5: Russia PII (valid Luhn + INN)     HTTP: 200  Result: </a:t>
            </a:r>
            <a:r>
              <a:rPr sz="1000">
                <a:solidFill>
                  <a:srgbClr val="A6E3A1"/>
                </a:solidFill>
                <a:latin typeface="Menlo"/>
              </a:rPr>
              <a:t>BLOCK 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>
              <a:solidFill>
                <a:srgbClr val="A6E3A1"/>
              </a:solidFill>
              <a:latin typeface="Menl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Menlo"/>
              </a:rPr>
              <a:t>Total: 5  Passed: </a:t>
            </a:r>
            <a:r>
              <a:rPr sz="1000">
                <a:solidFill>
                  <a:srgbClr val="A6E3A1"/>
                </a:solidFill>
                <a:latin typeface="Menlo"/>
              </a:rPr>
              <a:t>5</a:t>
            </a:r>
            <a:r>
              <a:rPr sz="1000">
                <a:solidFill>
                  <a:srgbClr val="CDD6F4"/>
                </a:solidFill>
                <a:latin typeface="Menlo"/>
              </a:rPr>
              <a:t>  Failed: </a:t>
            </a:r>
            <a:r>
              <a:rPr sz="1000">
                <a:solidFill>
                  <a:srgbClr val="A6E3A1"/>
                </a:solidFill>
                <a:latin typeface="Menlo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3366"/>
                </a:solidFill>
                <a:latin typeface="Segoe UI"/>
              </a:defRPr>
            </a:pPr>
            <a:r>
              <a:rPr dirty="0"/>
              <a:t>Scenario 5 — Data Corrections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Segoe UI"/>
              </a:defRPr>
            </a:pPr>
            <a:endParaRPr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5B2D8E"/>
                </a:solidFill>
                <a:latin typeface="Segoe UI"/>
              </a:defRPr>
            </a:pPr>
            <a:r>
              <a:rPr dirty="0"/>
              <a:t>Credit Card: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rPr dirty="0"/>
              <a:t>• Original: Mir 2200123456789012 — Luhn valid but Purview doesn't recognize Mir BIN range (2200-2204)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rPr dirty="0"/>
              <a:t>• Fixed: MC 2221001234567896 — BIN 2221-2720 is in MasterCard range, recognized by Purview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5B2D8E"/>
                </a:solidFill>
                <a:latin typeface="Segoe UI"/>
              </a:defRPr>
            </a:pPr>
            <a:r>
              <a:rPr dirty="0"/>
              <a:t>INN (Taxpayer ID):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rPr dirty="0"/>
              <a:t>• Original: 770123456789 — invalid check digits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rPr dirty="0"/>
              <a:t>• Fixed: 770123456703 — valid per Russian INN algorithm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Segoe UI"/>
              </a:defRPr>
            </a:pPr>
            <a:endParaRPr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5B2D8E"/>
                </a:solidFill>
                <a:latin typeface="Segoe UI"/>
              </a:defRPr>
            </a:pPr>
            <a:r>
              <a:rPr dirty="0"/>
              <a:t>Russian keywords: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Segoe UI"/>
              </a:defRPr>
            </a:pPr>
            <a:r>
              <a:rPr dirty="0"/>
              <a:t>• ИНН (taxpayer ID), </a:t>
            </a: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паспорта</a:t>
            </a:r>
            <a:r>
              <a:rPr dirty="0"/>
              <a:t> (passport number), </a:t>
            </a: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кредитной</a:t>
            </a:r>
            <a:r>
              <a:rPr dirty="0"/>
              <a:t> </a:t>
            </a:r>
            <a:r>
              <a:rPr dirty="0" err="1"/>
              <a:t>карты</a:t>
            </a:r>
            <a:r>
              <a:rPr dirty="0"/>
              <a:t> (credit card number)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BA43-9DA6-842C-C8B8-FD373E38E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1EC8-3959-9F07-5A73-740E8475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Test with </a:t>
            </a:r>
            <a:r>
              <a:rPr lang="en-US" dirty="0" err="1">
                <a:solidFill>
                  <a:schemeClr val="tx2"/>
                </a:solidFill>
              </a:rPr>
              <a:t>openclaw</a:t>
            </a:r>
            <a:endParaRPr lang="en-TW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8DF37-8CF5-7D87-CC46-C0FA7C546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651442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2224-92A8-3E1D-B666-2A30DF19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A95E-1274-B8C8-C398-6B4AC95D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1. Ask </a:t>
            </a:r>
            <a:r>
              <a:rPr lang="en-US" dirty="0" err="1">
                <a:solidFill>
                  <a:schemeClr val="tx2"/>
                </a:solidFill>
              </a:rPr>
              <a:t>openclaw</a:t>
            </a:r>
            <a:r>
              <a:rPr lang="en-US" dirty="0">
                <a:solidFill>
                  <a:schemeClr val="tx2"/>
                </a:solidFill>
              </a:rPr>
              <a:t> send file contains PII</a:t>
            </a:r>
            <a:endParaRPr lang="en-TW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13468-B101-4EB5-6039-B3F8B3D8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996939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40D34-EE89-E766-D869-5AA364D4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B1BE2-A4AA-C565-AF54-9931E3731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8F90F-6A8D-86C1-93AE-0DEFEA357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3" y="923512"/>
            <a:ext cx="9813792" cy="1242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A6D252-F60A-B586-8A30-12D641CF7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13" y="2561216"/>
            <a:ext cx="9185214" cy="320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05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85C0-B6B0-8D00-9405-449C2524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511D-BCBC-CD6E-B77D-B37207ED5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E63DEC-DE1E-4241-75E3-36C8B7021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429" y="0"/>
            <a:ext cx="570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08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22AFF2-1535-6071-0C51-CF1C0672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L1 prompt guard</a:t>
            </a:r>
            <a:endParaRPr lang="en-TW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4081AC-E560-9051-1902-7A1D22041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9148" y="1691224"/>
            <a:ext cx="12199370" cy="464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64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600C-47AC-45C7-6588-37ED23BE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13385-CA0D-08DB-3112-175D2C28E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2F7D22-FD1A-A7E3-1066-23C704A72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9" y="970977"/>
            <a:ext cx="10950684" cy="512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52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F2F2-02DE-256B-ACED-E0FEA26B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8DE1F-548A-D1A7-12DE-BD7D64BA0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250BA-595E-F010-3F5A-BD8050095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13" y="1089025"/>
            <a:ext cx="10746523" cy="498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34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AF16E-5749-2C34-BE33-66208DEC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D8A75-1F59-6E21-C98A-2480E417A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36EA-DEAE-0872-8E06-1E144272D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62" y="235451"/>
            <a:ext cx="7772400" cy="12807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1ACC94-43F6-7E49-9425-BE2ADE32E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62" y="1644711"/>
            <a:ext cx="7772400" cy="452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34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CFB1-025C-C5FA-FB67-4431A862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7DD3E-C917-6ADD-365A-2F0966359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5A0B2-30F4-3ABF-54B4-2E692A3F5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3" y="972618"/>
            <a:ext cx="7772400" cy="452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19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9DA3-95B0-1F72-5F17-A463811E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E8E62-9D59-C5D1-DF89-15C7A4143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EA75D-3A71-B9C7-056A-4359ED72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63" y="580554"/>
            <a:ext cx="10072673" cy="569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22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713A-D7E7-B17F-3B1A-F3A189D5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5AE71-8385-4A7E-6C8E-F2EF351AC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B4883-6CAD-792E-4157-C797A2E31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6" y="441502"/>
            <a:ext cx="10295587" cy="61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99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D7253-A13D-5233-5D23-9CECEA19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F73A6-F85F-7987-2DFB-9CF220CBA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3E548-8700-A891-1644-2782A43E1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63" y="902984"/>
            <a:ext cx="11494674" cy="441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63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2986</Words>
  <Application>Microsoft Macintosh PowerPoint</Application>
  <PresentationFormat>Widescreen</PresentationFormat>
  <Paragraphs>479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Detail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with openclaw</vt:lpstr>
      <vt:lpstr>1. Ask openclaw send file contains PII</vt:lpstr>
      <vt:lpstr>PowerPoint Presentation</vt:lpstr>
      <vt:lpstr>PowerPoint Presentation</vt:lpstr>
      <vt:lpstr>L1 prompt guard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MOD Administrator</cp:lastModifiedBy>
  <cp:revision>7</cp:revision>
  <dcterms:created xsi:type="dcterms:W3CDTF">2013-01-27T09:14:16Z</dcterms:created>
  <dcterms:modified xsi:type="dcterms:W3CDTF">2026-04-24T05:53:01Z</dcterms:modified>
  <cp:category/>
</cp:coreProperties>
</file>